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1/23/2026</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1/23/2026</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F6D97-9D09-E414-D3D5-0492454F1286}"/>
              </a:ext>
            </a:extLst>
          </p:cNvPr>
          <p:cNvSpPr>
            <a:spLocks noGrp="1"/>
          </p:cNvSpPr>
          <p:nvPr>
            <p:ph type="ctrTitle"/>
          </p:nvPr>
        </p:nvSpPr>
        <p:spPr>
          <a:xfrm>
            <a:off x="1483134" y="1220686"/>
            <a:ext cx="10148428" cy="2306637"/>
          </a:xfrm>
        </p:spPr>
        <p:txBody>
          <a:bodyPr>
            <a:normAutofit/>
          </a:bodyPr>
          <a:lstStyle/>
          <a:p>
            <a:r>
              <a:rPr lang="en-IN" b="1" i="1" dirty="0"/>
              <a:t>The Sleep Insights</a:t>
            </a:r>
            <a:endParaRPr lang="en-IN" sz="7200" dirty="0"/>
          </a:p>
        </p:txBody>
      </p:sp>
    </p:spTree>
    <p:extLst>
      <p:ext uri="{BB962C8B-B14F-4D97-AF65-F5344CB8AC3E}">
        <p14:creationId xmlns:p14="http://schemas.microsoft.com/office/powerpoint/2010/main" val="165640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99BD9-CC22-6130-6066-EC5827E732BB}"/>
              </a:ext>
            </a:extLst>
          </p:cNvPr>
          <p:cNvSpPr>
            <a:spLocks noGrp="1"/>
          </p:cNvSpPr>
          <p:nvPr>
            <p:ph type="title"/>
          </p:nvPr>
        </p:nvSpPr>
        <p:spPr/>
        <p:txBody>
          <a:bodyPr/>
          <a:lstStyle/>
          <a:p>
            <a:r>
              <a:rPr lang="en-IN" sz="5400" b="1" i="1" u="sng" dirty="0"/>
              <a:t>introduction</a:t>
            </a:r>
            <a:endParaRPr lang="en-IN" b="1" i="1" u="sng" dirty="0"/>
          </a:p>
        </p:txBody>
      </p:sp>
      <p:sp>
        <p:nvSpPr>
          <p:cNvPr id="3" name="Rectangle 1">
            <a:extLst>
              <a:ext uri="{FF2B5EF4-FFF2-40B4-BE49-F238E27FC236}">
                <a16:creationId xmlns:a16="http://schemas.microsoft.com/office/drawing/2014/main" id="{2256DDED-52A1-7127-B638-FE5097A57D7B}"/>
              </a:ext>
            </a:extLst>
          </p:cNvPr>
          <p:cNvSpPr>
            <a:spLocks noGrp="1" noChangeArrowheads="1"/>
          </p:cNvSpPr>
          <p:nvPr>
            <p:ph idx="1"/>
          </p:nvPr>
        </p:nvSpPr>
        <p:spPr bwMode="auto">
          <a:xfrm>
            <a:off x="1042989" y="1825100"/>
            <a:ext cx="9192392"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1" u="none" strike="noStrike" cap="none" normalizeH="0" baseline="0" dirty="0">
                <a:ln>
                  <a:noFill/>
                </a:ln>
                <a:solidFill>
                  <a:schemeClr val="tx1"/>
                </a:solidFill>
                <a:effectLst/>
                <a:latin typeface="Bahnschrift Light" panose="020B0502040204020203" pitchFamily="34" charset="0"/>
              </a:rPr>
              <a:t>The Sleep Insights</a:t>
            </a:r>
            <a:endParaRPr kumimoji="0" lang="en-US" altLang="en-US" b="0" i="0" u="none" strike="noStrike" cap="none" normalizeH="0" baseline="0" dirty="0">
              <a:ln>
                <a:noFill/>
              </a:ln>
              <a:solidFill>
                <a:schemeClr val="tx1"/>
              </a:solidFill>
              <a:effectLst/>
              <a:latin typeface="Bahnschrift Light"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1" u="none" strike="noStrike" cap="none" normalizeH="0" baseline="0" dirty="0">
              <a:ln>
                <a:noFill/>
              </a:ln>
              <a:solidFill>
                <a:schemeClr val="tx1"/>
              </a:solidFill>
              <a:effectLst/>
              <a:latin typeface="Bahnschrift Light"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1" u="none" strike="noStrike" cap="none" normalizeH="0" baseline="0" dirty="0">
                <a:ln>
                  <a:noFill/>
                </a:ln>
                <a:solidFill>
                  <a:schemeClr val="tx1"/>
                </a:solidFill>
                <a:effectLst/>
                <a:latin typeface="Bahnschrift Light" panose="020B0502040204020203" pitchFamily="34" charset="0"/>
              </a:rPr>
              <a:t>The Sleep Insights</a:t>
            </a:r>
            <a:r>
              <a:rPr kumimoji="0" lang="en-US" altLang="en-US" b="0" i="0" u="none" strike="noStrike" cap="none" normalizeH="0" baseline="0" dirty="0">
                <a:ln>
                  <a:noFill/>
                </a:ln>
                <a:solidFill>
                  <a:schemeClr val="tx1"/>
                </a:solidFill>
                <a:effectLst/>
                <a:latin typeface="Bahnschrift Light" panose="020B0502040204020203" pitchFamily="34" charset="0"/>
              </a:rPr>
              <a:t> explains how sleep, stress, age, and work are connected. The study shows that people who sleep enough hours usually have better sleep quality. High stress makes sleep worse. People with sleep problems like insomnia or sleep apnea do not sleep well. Stress levels are different for different jobs, and stressful jobs affect sleep more. Overall, the study shows that good sleep habits and stress control are important for a healthy life.</a:t>
            </a:r>
          </a:p>
        </p:txBody>
      </p:sp>
    </p:spTree>
    <p:extLst>
      <p:ext uri="{BB962C8B-B14F-4D97-AF65-F5344CB8AC3E}">
        <p14:creationId xmlns:p14="http://schemas.microsoft.com/office/powerpoint/2010/main" val="2507396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2140B-7E76-FA18-CC13-9F31543DA9A2}"/>
              </a:ext>
            </a:extLst>
          </p:cNvPr>
          <p:cNvSpPr>
            <a:spLocks noGrp="1"/>
          </p:cNvSpPr>
          <p:nvPr>
            <p:ph type="title"/>
          </p:nvPr>
        </p:nvSpPr>
        <p:spPr>
          <a:xfrm>
            <a:off x="672139" y="76377"/>
            <a:ext cx="9905998" cy="1478570"/>
          </a:xfrm>
        </p:spPr>
        <p:txBody>
          <a:bodyPr/>
          <a:lstStyle/>
          <a:p>
            <a:r>
              <a:rPr lang="en-IN" b="1" dirty="0"/>
              <a:t>Key findings</a:t>
            </a:r>
          </a:p>
        </p:txBody>
      </p:sp>
      <p:sp>
        <p:nvSpPr>
          <p:cNvPr id="4" name="Rectangle 1">
            <a:extLst>
              <a:ext uri="{FF2B5EF4-FFF2-40B4-BE49-F238E27FC236}">
                <a16:creationId xmlns:a16="http://schemas.microsoft.com/office/drawing/2014/main" id="{89627940-78F0-5451-6506-2A2FBB0D2C32}"/>
              </a:ext>
            </a:extLst>
          </p:cNvPr>
          <p:cNvSpPr>
            <a:spLocks noGrp="1" noChangeArrowheads="1"/>
          </p:cNvSpPr>
          <p:nvPr>
            <p:ph idx="1"/>
          </p:nvPr>
        </p:nvSpPr>
        <p:spPr bwMode="auto">
          <a:xfrm>
            <a:off x="672139" y="1279180"/>
            <a:ext cx="10976069" cy="4299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dirty="0"/>
              <a:t>This section shows the </a:t>
            </a:r>
            <a:r>
              <a:rPr lang="en-US" b="1" dirty="0"/>
              <a:t>overall average values</a:t>
            </a:r>
            <a:r>
              <a:rPr lang="en-US" dirty="0"/>
              <a:t> from the dataset.</a:t>
            </a:r>
          </a:p>
          <a:p>
            <a:r>
              <a:rPr lang="en-US" b="1" dirty="0"/>
              <a:t>Average Sleep Duration: 7.23 hours</a:t>
            </a:r>
            <a:br>
              <a:rPr lang="en-US" dirty="0"/>
            </a:br>
            <a:r>
              <a:rPr lang="en-US" dirty="0"/>
              <a:t>&gt; On average, people sleep a little more than </a:t>
            </a:r>
            <a:r>
              <a:rPr lang="en-US" b="1" dirty="0"/>
              <a:t>7 hours per day</a:t>
            </a:r>
            <a:r>
              <a:rPr lang="en-US" dirty="0"/>
              <a:t>, which is close to a healthy sleep range.</a:t>
            </a:r>
          </a:p>
          <a:p>
            <a:r>
              <a:rPr lang="en-US" b="1" dirty="0"/>
              <a:t>Average Quality of Sleep: 7.66 (out of 10)</a:t>
            </a:r>
            <a:br>
              <a:rPr lang="en-US" dirty="0"/>
            </a:br>
            <a:r>
              <a:rPr lang="en-US" dirty="0"/>
              <a:t>&gt; This means most people rate their sleep quality as </a:t>
            </a:r>
            <a:r>
              <a:rPr lang="en-US" b="1" dirty="0"/>
              <a:t>good</a:t>
            </a:r>
            <a:r>
              <a:rPr lang="en-US" dirty="0"/>
              <a:t>.</a:t>
            </a:r>
          </a:p>
          <a:p>
            <a:r>
              <a:rPr lang="en-US" b="1" dirty="0"/>
              <a:t>Average Stress Level: 4.68 (out of 10)</a:t>
            </a:r>
            <a:br>
              <a:rPr lang="en-US" dirty="0"/>
            </a:br>
            <a:r>
              <a:rPr lang="en-US" dirty="0"/>
              <a:t>&gt; Stress levels are </a:t>
            </a:r>
            <a:r>
              <a:rPr lang="en-US" b="1" dirty="0"/>
              <a:t>moderate to low</a:t>
            </a:r>
            <a:r>
              <a:rPr lang="en-US" dirty="0"/>
              <a:t>, showing that overall stress is manageable.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62270217-7B53-8862-580D-223864938B73}"/>
              </a:ext>
            </a:extLst>
          </p:cNvPr>
          <p:cNvPicPr>
            <a:picLocks noChangeAspect="1"/>
          </p:cNvPicPr>
          <p:nvPr/>
        </p:nvPicPr>
        <p:blipFill>
          <a:blip r:embed="rId2">
            <a:alphaModFix amt="50000"/>
          </a:blip>
          <a:stretch>
            <a:fillRect/>
          </a:stretch>
        </p:blipFill>
        <p:spPr>
          <a:xfrm>
            <a:off x="4805335" y="5611672"/>
            <a:ext cx="6592220" cy="743054"/>
          </a:xfrm>
          <a:prstGeom prst="rect">
            <a:avLst/>
          </a:prstGeom>
        </p:spPr>
      </p:pic>
    </p:spTree>
    <p:extLst>
      <p:ext uri="{BB962C8B-B14F-4D97-AF65-F5344CB8AC3E}">
        <p14:creationId xmlns:p14="http://schemas.microsoft.com/office/powerpoint/2010/main" val="28877593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9BA4D-4380-A470-6ABF-EC99C8755B0C}"/>
              </a:ext>
            </a:extLst>
          </p:cNvPr>
          <p:cNvSpPr>
            <a:spLocks noGrp="1"/>
          </p:cNvSpPr>
          <p:nvPr>
            <p:ph type="title"/>
          </p:nvPr>
        </p:nvSpPr>
        <p:spPr>
          <a:xfrm>
            <a:off x="1030466" y="-69293"/>
            <a:ext cx="5976360" cy="711518"/>
          </a:xfrm>
        </p:spPr>
        <p:txBody>
          <a:bodyPr>
            <a:normAutofit fontScale="90000"/>
          </a:bodyPr>
          <a:lstStyle/>
          <a:p>
            <a:r>
              <a:rPr lang="en-US" b="1" dirty="0"/>
              <a:t>“sleep duration v/s quality”</a:t>
            </a:r>
            <a:endParaRPr lang="en-IN" dirty="0"/>
          </a:p>
        </p:txBody>
      </p:sp>
      <p:sp>
        <p:nvSpPr>
          <p:cNvPr id="10" name="TextBox 9">
            <a:extLst>
              <a:ext uri="{FF2B5EF4-FFF2-40B4-BE49-F238E27FC236}">
                <a16:creationId xmlns:a16="http://schemas.microsoft.com/office/drawing/2014/main" id="{304F7471-F170-AE00-9B03-7A1DBDA7D0B4}"/>
              </a:ext>
            </a:extLst>
          </p:cNvPr>
          <p:cNvSpPr txBox="1"/>
          <p:nvPr/>
        </p:nvSpPr>
        <p:spPr>
          <a:xfrm>
            <a:off x="1146464" y="610136"/>
            <a:ext cx="10701407" cy="6247864"/>
          </a:xfrm>
          <a:prstGeom prst="rect">
            <a:avLst/>
          </a:prstGeom>
          <a:noFill/>
        </p:spPr>
        <p:txBody>
          <a:bodyPr wrap="square">
            <a:spAutoFit/>
          </a:bodyPr>
          <a:lstStyle/>
          <a:p>
            <a:pPr>
              <a:buNone/>
            </a:pPr>
            <a:r>
              <a:rPr lang="en-US" sz="1600" dirty="0"/>
              <a:t>This graph shows the </a:t>
            </a:r>
            <a:r>
              <a:rPr lang="en-US" sz="1600" b="1" dirty="0"/>
              <a:t>relationship between Average Sleep Duration (X-axis)</a:t>
            </a:r>
            <a:r>
              <a:rPr lang="en-US" sz="1600" dirty="0"/>
              <a:t> and </a:t>
            </a:r>
            <a:r>
              <a:rPr lang="en-US" sz="1600" b="1" dirty="0"/>
              <a:t>Average Quality of Sleep (Y-axis)</a:t>
            </a:r>
            <a:r>
              <a:rPr lang="en-US" sz="1600" dirty="0"/>
              <a:t> for different people, grouped by </a:t>
            </a:r>
            <a:r>
              <a:rPr lang="en-US" sz="1600" b="1" dirty="0"/>
              <a:t>Sleep Disorder type</a:t>
            </a:r>
            <a:r>
              <a:rPr lang="en-US" sz="1600" dirty="0"/>
              <a:t>.</a:t>
            </a:r>
          </a:p>
          <a:p>
            <a:pPr>
              <a:buNone/>
            </a:pPr>
            <a:endParaRPr lang="en-US" sz="1600" b="1" dirty="0"/>
          </a:p>
          <a:p>
            <a:pPr>
              <a:buNone/>
            </a:pPr>
            <a:r>
              <a:rPr lang="en-US" sz="1600" b="1" u="sng" dirty="0"/>
              <a:t>1. Overall Pattern</a:t>
            </a:r>
          </a:p>
          <a:p>
            <a:pPr>
              <a:buFont typeface="Arial" panose="020B0604020202020204" pitchFamily="34" charset="0"/>
              <a:buChar char="•"/>
            </a:pPr>
            <a:r>
              <a:rPr lang="en-US" sz="1600" dirty="0"/>
              <a:t>There is a </a:t>
            </a:r>
            <a:r>
              <a:rPr lang="en-US" sz="1600" b="1" dirty="0"/>
              <a:t>positive relationship</a:t>
            </a:r>
            <a:r>
              <a:rPr lang="en-US" sz="1600" dirty="0"/>
              <a:t> between sleep duration and sleep quality.</a:t>
            </a:r>
          </a:p>
          <a:p>
            <a:r>
              <a:rPr lang="en-US" sz="1600" dirty="0"/>
              <a:t>&gt; As </a:t>
            </a:r>
            <a:r>
              <a:rPr lang="en-US" sz="1600" b="1" dirty="0"/>
              <a:t>sleep hours increase</a:t>
            </a:r>
            <a:r>
              <a:rPr lang="en-US" sz="1600" dirty="0"/>
              <a:t>, </a:t>
            </a:r>
            <a:r>
              <a:rPr lang="en-US" sz="1600" b="1" dirty="0"/>
              <a:t>sleep quality also improves</a:t>
            </a:r>
            <a:r>
              <a:rPr lang="en-US" sz="1600" dirty="0"/>
              <a:t>.</a:t>
            </a:r>
          </a:p>
          <a:p>
            <a:pPr>
              <a:buNone/>
            </a:pPr>
            <a:endParaRPr lang="en-US" sz="1600" b="1" dirty="0"/>
          </a:p>
          <a:p>
            <a:pPr>
              <a:buNone/>
            </a:pPr>
            <a:r>
              <a:rPr lang="en-US" sz="1600" b="1" u="sng" dirty="0"/>
              <a:t>2. People with No Sleep Disorder</a:t>
            </a:r>
          </a:p>
          <a:p>
            <a:pPr>
              <a:buFont typeface="Arial" panose="020B0604020202020204" pitchFamily="34" charset="0"/>
              <a:buChar char="•"/>
            </a:pPr>
            <a:r>
              <a:rPr lang="en-US" sz="1600" dirty="0"/>
              <a:t>Mostly seen in the </a:t>
            </a:r>
            <a:r>
              <a:rPr lang="en-US" sz="1600" b="1" dirty="0"/>
              <a:t>higher range</a:t>
            </a:r>
            <a:r>
              <a:rPr lang="en-US" sz="1600" dirty="0"/>
              <a:t> of the graph.</a:t>
            </a:r>
          </a:p>
          <a:p>
            <a:pPr>
              <a:buFont typeface="Arial" panose="020B0604020202020204" pitchFamily="34" charset="0"/>
              <a:buChar char="•"/>
            </a:pPr>
            <a:r>
              <a:rPr lang="en-US" sz="1600" dirty="0"/>
              <a:t>Sleep duration: </a:t>
            </a:r>
            <a:r>
              <a:rPr lang="en-US" sz="1600" b="1" dirty="0"/>
              <a:t>7–8+ hours,</a:t>
            </a:r>
            <a:r>
              <a:rPr lang="en-US" sz="1600" dirty="0"/>
              <a:t> Sleep quality: </a:t>
            </a:r>
            <a:r>
              <a:rPr lang="en-US" sz="1600" b="1" dirty="0"/>
              <a:t>7–9</a:t>
            </a:r>
            <a:endParaRPr lang="en-US" sz="1600" dirty="0"/>
          </a:p>
          <a:p>
            <a:r>
              <a:rPr lang="en-US" sz="1600" dirty="0"/>
              <a:t>&gt; These individuals have </a:t>
            </a:r>
            <a:r>
              <a:rPr lang="en-US" sz="1600" b="1" dirty="0"/>
              <a:t>good sleep habits</a:t>
            </a:r>
            <a:r>
              <a:rPr lang="en-US" sz="1600" dirty="0"/>
              <a:t> and </a:t>
            </a:r>
            <a:r>
              <a:rPr lang="en-US" sz="1600" b="1" dirty="0"/>
              <a:t>better sleep quality</a:t>
            </a:r>
            <a:r>
              <a:rPr lang="en-US" sz="1600" dirty="0"/>
              <a:t>.</a:t>
            </a:r>
          </a:p>
          <a:p>
            <a:pPr>
              <a:buNone/>
            </a:pPr>
            <a:endParaRPr lang="en-US" sz="1600" b="1" dirty="0"/>
          </a:p>
          <a:p>
            <a:pPr>
              <a:buNone/>
            </a:pPr>
            <a:r>
              <a:rPr lang="en-US" sz="1600" b="1" u="sng" dirty="0"/>
              <a:t>3. People with Insomnia</a:t>
            </a:r>
          </a:p>
          <a:p>
            <a:pPr>
              <a:buFont typeface="Arial" panose="020B0604020202020204" pitchFamily="34" charset="0"/>
              <a:buChar char="•"/>
            </a:pPr>
            <a:r>
              <a:rPr lang="en-US" sz="1600" dirty="0"/>
              <a:t>Generally appear in the </a:t>
            </a:r>
            <a:r>
              <a:rPr lang="en-US" sz="1600" b="1" dirty="0"/>
              <a:t>lower and middle ranges</a:t>
            </a:r>
            <a:r>
              <a:rPr lang="en-US" sz="1600" dirty="0"/>
              <a:t>.</a:t>
            </a:r>
          </a:p>
          <a:p>
            <a:pPr>
              <a:buFont typeface="Arial" panose="020B0604020202020204" pitchFamily="34" charset="0"/>
              <a:buChar char="•"/>
            </a:pPr>
            <a:r>
              <a:rPr lang="en-US" sz="1600" dirty="0"/>
              <a:t>Sleep duration: </a:t>
            </a:r>
            <a:r>
              <a:rPr lang="en-US" sz="1600" b="1" dirty="0"/>
              <a:t>6–7 hours , </a:t>
            </a:r>
            <a:r>
              <a:rPr lang="en-US" sz="1600" dirty="0"/>
              <a:t>Sleep quality: </a:t>
            </a:r>
            <a:r>
              <a:rPr lang="en-US" sz="1600" b="1" dirty="0"/>
              <a:t>5–7</a:t>
            </a:r>
            <a:endParaRPr lang="en-US" sz="1600" dirty="0"/>
          </a:p>
          <a:p>
            <a:r>
              <a:rPr lang="en-US" sz="1600" dirty="0"/>
              <a:t>&gt; Insomnia leads to </a:t>
            </a:r>
            <a:r>
              <a:rPr lang="en-US" sz="1600" b="1" dirty="0"/>
              <a:t>shorter sleep</a:t>
            </a:r>
            <a:r>
              <a:rPr lang="en-US" sz="1600" dirty="0"/>
              <a:t> and </a:t>
            </a:r>
            <a:r>
              <a:rPr lang="en-US" sz="1600" b="1" dirty="0"/>
              <a:t>poorer sleep quality</a:t>
            </a:r>
            <a:r>
              <a:rPr lang="en-US" sz="1600" dirty="0"/>
              <a:t>.</a:t>
            </a:r>
          </a:p>
          <a:p>
            <a:pPr>
              <a:buNone/>
            </a:pPr>
            <a:endParaRPr lang="en-US" sz="1600" b="1" dirty="0"/>
          </a:p>
          <a:p>
            <a:pPr>
              <a:buNone/>
            </a:pPr>
            <a:r>
              <a:rPr lang="en-US" sz="1600" b="1" u="sng" dirty="0"/>
              <a:t>4. People with Sleep Apnea</a:t>
            </a:r>
          </a:p>
          <a:p>
            <a:pPr>
              <a:buFont typeface="Arial" panose="020B0604020202020204" pitchFamily="34" charset="0"/>
              <a:buChar char="•"/>
            </a:pPr>
            <a:r>
              <a:rPr lang="en-US" sz="1600" dirty="0"/>
              <a:t>Found in the </a:t>
            </a:r>
            <a:r>
              <a:rPr lang="en-US" sz="1600" b="1" dirty="0"/>
              <a:t>middle range</a:t>
            </a:r>
            <a:r>
              <a:rPr lang="en-US" sz="1600" dirty="0"/>
              <a:t> of the graph.</a:t>
            </a:r>
          </a:p>
          <a:p>
            <a:pPr>
              <a:buFont typeface="Arial" panose="020B0604020202020204" pitchFamily="34" charset="0"/>
              <a:buChar char="•"/>
            </a:pPr>
            <a:r>
              <a:rPr lang="en-US" sz="1600" dirty="0"/>
              <a:t>Sleep duration: </a:t>
            </a:r>
            <a:r>
              <a:rPr lang="en-US" sz="1600" b="1" dirty="0"/>
              <a:t>6.5–7.5 hours , </a:t>
            </a:r>
            <a:r>
              <a:rPr lang="en-US" sz="1600" dirty="0"/>
              <a:t>Sleep quality: </a:t>
            </a:r>
            <a:r>
              <a:rPr lang="en-US" sz="1600" b="1" dirty="0"/>
              <a:t>6–8</a:t>
            </a:r>
            <a:endParaRPr lang="en-US" sz="1600" dirty="0"/>
          </a:p>
          <a:p>
            <a:r>
              <a:rPr lang="en-US" sz="1600" dirty="0"/>
              <a:t>&gt; Even with reasonable sleep hours, </a:t>
            </a:r>
            <a:r>
              <a:rPr lang="en-US" sz="1600" b="1" dirty="0"/>
              <a:t>sleep quality is reduced</a:t>
            </a:r>
            <a:r>
              <a:rPr lang="en-US" sz="1600" dirty="0"/>
              <a:t> due to breathing problems during sleep.</a:t>
            </a:r>
          </a:p>
          <a:p>
            <a:pPr>
              <a:buNone/>
            </a:pPr>
            <a:endParaRPr lang="en-US" sz="1600" b="1" dirty="0"/>
          </a:p>
          <a:p>
            <a:pPr>
              <a:buNone/>
            </a:pPr>
            <a:r>
              <a:rPr lang="en-US" sz="1600" b="1" dirty="0"/>
              <a:t>5</a:t>
            </a:r>
            <a:r>
              <a:rPr lang="en-US" sz="1600" b="1" u="sng" dirty="0"/>
              <a:t>. Graph conclusion</a:t>
            </a:r>
          </a:p>
          <a:p>
            <a:pPr>
              <a:buFont typeface="Arial" panose="020B0604020202020204" pitchFamily="34" charset="0"/>
              <a:buChar char="•"/>
            </a:pPr>
            <a:r>
              <a:rPr lang="en-US" sz="1600" b="1" dirty="0"/>
              <a:t>Longer sleep duration is associated with better sleep quality, People without sleep disorders show the best sleep outcomes</a:t>
            </a:r>
            <a:endParaRPr lang="en-US" sz="1600" dirty="0"/>
          </a:p>
          <a:p>
            <a:pPr>
              <a:buFont typeface="Arial" panose="020B0604020202020204" pitchFamily="34" charset="0"/>
              <a:buChar char="•"/>
            </a:pPr>
            <a:r>
              <a:rPr lang="en-US" sz="1600" b="1" dirty="0"/>
              <a:t>Sleep disorders negatively affect sleep quality</a:t>
            </a:r>
          </a:p>
        </p:txBody>
      </p:sp>
      <p:pic>
        <p:nvPicPr>
          <p:cNvPr id="12" name="Picture 11">
            <a:extLst>
              <a:ext uri="{FF2B5EF4-FFF2-40B4-BE49-F238E27FC236}">
                <a16:creationId xmlns:a16="http://schemas.microsoft.com/office/drawing/2014/main" id="{F7AD5ADD-CFD4-C21D-B07E-E4EB75A09CB1}"/>
              </a:ext>
            </a:extLst>
          </p:cNvPr>
          <p:cNvPicPr>
            <a:picLocks noChangeAspect="1"/>
          </p:cNvPicPr>
          <p:nvPr/>
        </p:nvPicPr>
        <p:blipFill>
          <a:blip r:embed="rId2">
            <a:alphaModFix amt="50000"/>
          </a:blip>
          <a:stretch>
            <a:fillRect/>
          </a:stretch>
        </p:blipFill>
        <p:spPr>
          <a:xfrm>
            <a:off x="7254308" y="2042919"/>
            <a:ext cx="4001058" cy="2772162"/>
          </a:xfrm>
          <a:prstGeom prst="rect">
            <a:avLst/>
          </a:prstGeom>
        </p:spPr>
      </p:pic>
    </p:spTree>
    <p:extLst>
      <p:ext uri="{BB962C8B-B14F-4D97-AF65-F5344CB8AC3E}">
        <p14:creationId xmlns:p14="http://schemas.microsoft.com/office/powerpoint/2010/main" val="9078293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7C5CE-61A2-3F82-1F84-42BBB3147521}"/>
              </a:ext>
            </a:extLst>
          </p:cNvPr>
          <p:cNvSpPr>
            <a:spLocks noGrp="1"/>
          </p:cNvSpPr>
          <p:nvPr>
            <p:ph type="title"/>
          </p:nvPr>
        </p:nvSpPr>
        <p:spPr>
          <a:xfrm>
            <a:off x="1143001" y="-421355"/>
            <a:ext cx="9905998" cy="1478570"/>
          </a:xfrm>
        </p:spPr>
        <p:txBody>
          <a:bodyPr/>
          <a:lstStyle/>
          <a:p>
            <a:r>
              <a:rPr lang="en-US" b="1" dirty="0"/>
              <a:t>Age on heart rate v/s stress level</a:t>
            </a:r>
            <a:endParaRPr lang="en-IN" b="1" dirty="0"/>
          </a:p>
        </p:txBody>
      </p:sp>
      <p:sp>
        <p:nvSpPr>
          <p:cNvPr id="5" name="Rectangle 2">
            <a:extLst>
              <a:ext uri="{FF2B5EF4-FFF2-40B4-BE49-F238E27FC236}">
                <a16:creationId xmlns:a16="http://schemas.microsoft.com/office/drawing/2014/main" id="{6DF4AF03-505A-6D7A-D7C8-6C14BE95EB51}"/>
              </a:ext>
            </a:extLst>
          </p:cNvPr>
          <p:cNvSpPr>
            <a:spLocks noChangeArrowheads="1"/>
          </p:cNvSpPr>
          <p:nvPr/>
        </p:nvSpPr>
        <p:spPr bwMode="auto">
          <a:xfrm>
            <a:off x="941638" y="641872"/>
            <a:ext cx="10675397" cy="6093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a:t>This graph shows how </a:t>
            </a:r>
            <a:r>
              <a:rPr lang="en-US" b="1" dirty="0"/>
              <a:t>age affects heart rate and stress levels</a:t>
            </a:r>
            <a:r>
              <a:rPr lang="en-US" dirty="0"/>
              <a:t>.</a:t>
            </a:r>
          </a:p>
          <a:p>
            <a:endParaRPr lang="en-US" dirty="0"/>
          </a:p>
          <a:p>
            <a:r>
              <a:rPr lang="en-US" b="1" dirty="0"/>
              <a:t>X-axis:</a:t>
            </a:r>
            <a:r>
              <a:rPr lang="en-US" dirty="0"/>
              <a:t> Age</a:t>
            </a:r>
          </a:p>
          <a:p>
            <a:r>
              <a:rPr lang="en-US" b="1" dirty="0"/>
              <a:t>Left Y-axis (Blue line):</a:t>
            </a:r>
            <a:r>
              <a:rPr lang="en-US" dirty="0"/>
              <a:t> Heart Rate , </a:t>
            </a:r>
            <a:r>
              <a:rPr lang="en-US" b="1" dirty="0"/>
              <a:t>Right Y-axis (Yellow line):</a:t>
            </a:r>
            <a:r>
              <a:rPr lang="en-US" dirty="0"/>
              <a:t> Average Stress Level</a:t>
            </a:r>
          </a:p>
          <a:p>
            <a:endParaRPr lang="en-US" dirty="0"/>
          </a:p>
          <a:p>
            <a:r>
              <a:rPr lang="en-US" sz="2400" b="1" u="sng" dirty="0"/>
              <a:t>Key Observations</a:t>
            </a:r>
          </a:p>
          <a:p>
            <a:r>
              <a:rPr lang="en-US" b="1" dirty="0"/>
              <a:t>Stress levels (yellow line):</a:t>
            </a:r>
            <a:endParaRPr lang="en-US" dirty="0"/>
          </a:p>
          <a:p>
            <a:pPr lvl="1"/>
            <a:r>
              <a:rPr lang="en-US" dirty="0"/>
              <a:t>&gt;Higher during </a:t>
            </a:r>
            <a:r>
              <a:rPr lang="en-US" b="1" dirty="0"/>
              <a:t>young to middle age</a:t>
            </a:r>
            <a:endParaRPr lang="en-US" dirty="0"/>
          </a:p>
          <a:p>
            <a:pPr lvl="1"/>
            <a:r>
              <a:rPr lang="en-US" dirty="0"/>
              <a:t>&gt;Gradually </a:t>
            </a:r>
            <a:r>
              <a:rPr lang="en-US" b="1" dirty="0"/>
              <a:t>decrease at older ages</a:t>
            </a:r>
            <a:endParaRPr lang="en-US" dirty="0"/>
          </a:p>
          <a:p>
            <a:pPr lvl="1"/>
            <a:r>
              <a:rPr lang="en-US" dirty="0"/>
              <a:t>&gt;Indicates that stress reduces as age increases</a:t>
            </a:r>
          </a:p>
          <a:p>
            <a:r>
              <a:rPr lang="en-US" b="1" dirty="0"/>
              <a:t>Heart rate (blue line):</a:t>
            </a:r>
            <a:endParaRPr lang="en-US" dirty="0"/>
          </a:p>
          <a:p>
            <a:pPr lvl="1"/>
            <a:r>
              <a:rPr lang="en-US" dirty="0"/>
              <a:t>&gt;Fluctuates a lot across different ages</a:t>
            </a:r>
          </a:p>
          <a:p>
            <a:pPr lvl="1"/>
            <a:r>
              <a:rPr lang="en-US" dirty="0"/>
              <a:t>&gt;Peaks in some middle-age groups</a:t>
            </a:r>
          </a:p>
          <a:p>
            <a:pPr lvl="1"/>
            <a:r>
              <a:rPr lang="en-US" dirty="0"/>
              <a:t>&gt;No smooth trend, showing heart rate varies from person to person</a:t>
            </a:r>
          </a:p>
          <a:p>
            <a:endParaRPr lang="en-US" b="1" dirty="0"/>
          </a:p>
          <a:p>
            <a:r>
              <a:rPr lang="en-US" sz="2400" b="1" u="sng" dirty="0"/>
              <a:t>Graph conclusion</a:t>
            </a:r>
          </a:p>
          <a:p>
            <a:r>
              <a:rPr lang="en-US" b="1" dirty="0"/>
              <a:t>&gt; </a:t>
            </a:r>
            <a:r>
              <a:rPr lang="en-US" dirty="0"/>
              <a:t>Age has a </a:t>
            </a:r>
            <a:r>
              <a:rPr lang="en-US" b="1" dirty="0"/>
              <a:t>clear impact on stress levels</a:t>
            </a:r>
            <a:endParaRPr lang="en-US" dirty="0"/>
          </a:p>
          <a:p>
            <a:r>
              <a:rPr lang="en-US" b="1" dirty="0"/>
              <a:t>&gt;Younger and middle-aged individuals experience higher stress</a:t>
            </a:r>
            <a:endParaRPr lang="en-US" dirty="0"/>
          </a:p>
          <a:p>
            <a:r>
              <a:rPr lang="en-US" dirty="0"/>
              <a:t>&gt;Heart rate varies with age but does not follow a consistent pattern</a:t>
            </a:r>
          </a:p>
          <a:p>
            <a:endParaRPr lang="en-US" b="1" dirty="0"/>
          </a:p>
          <a:p>
            <a:r>
              <a:rPr lang="en-US" b="1" dirty="0"/>
              <a:t>&gt;</a:t>
            </a:r>
            <a:r>
              <a:rPr lang="en-US" dirty="0"/>
              <a:t>Stress levels tend to decrease with age, while heart rate shows irregular changes across different age groups.</a:t>
            </a:r>
          </a:p>
        </p:txBody>
      </p:sp>
      <p:pic>
        <p:nvPicPr>
          <p:cNvPr id="8" name="Picture 7">
            <a:extLst>
              <a:ext uri="{FF2B5EF4-FFF2-40B4-BE49-F238E27FC236}">
                <a16:creationId xmlns:a16="http://schemas.microsoft.com/office/drawing/2014/main" id="{DFEF182B-205B-652F-FA42-FCD301428CF2}"/>
              </a:ext>
            </a:extLst>
          </p:cNvPr>
          <p:cNvPicPr>
            <a:picLocks noChangeAspect="1"/>
          </p:cNvPicPr>
          <p:nvPr/>
        </p:nvPicPr>
        <p:blipFill>
          <a:blip r:embed="rId2">
            <a:alphaModFix amt="50000"/>
          </a:blip>
          <a:stretch>
            <a:fillRect/>
          </a:stretch>
        </p:blipFill>
        <p:spPr>
          <a:xfrm>
            <a:off x="7620874" y="1913752"/>
            <a:ext cx="3996161" cy="3735542"/>
          </a:xfrm>
          <a:prstGeom prst="rect">
            <a:avLst/>
          </a:prstGeom>
        </p:spPr>
      </p:pic>
    </p:spTree>
    <p:extLst>
      <p:ext uri="{BB962C8B-B14F-4D97-AF65-F5344CB8AC3E}">
        <p14:creationId xmlns:p14="http://schemas.microsoft.com/office/powerpoint/2010/main" val="24836128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DFF3E-A222-1A11-603D-5D7A5980EC78}"/>
              </a:ext>
            </a:extLst>
          </p:cNvPr>
          <p:cNvSpPr>
            <a:spLocks noGrp="1"/>
          </p:cNvSpPr>
          <p:nvPr>
            <p:ph type="title"/>
          </p:nvPr>
        </p:nvSpPr>
        <p:spPr>
          <a:xfrm>
            <a:off x="1143001" y="0"/>
            <a:ext cx="9905998" cy="1478570"/>
          </a:xfrm>
        </p:spPr>
        <p:txBody>
          <a:bodyPr/>
          <a:lstStyle/>
          <a:p>
            <a:r>
              <a:rPr lang="en-IN" b="1" dirty="0">
                <a:effectLst>
                  <a:outerShdw blurRad="50800" dist="38100" dir="5400000" algn="t" rotWithShape="0">
                    <a:prstClr val="black">
                      <a:alpha val="40000"/>
                    </a:prstClr>
                  </a:outerShdw>
                </a:effectLst>
              </a:rPr>
              <a:t>Stress level by occupation</a:t>
            </a:r>
            <a:br>
              <a:rPr lang="en-US" dirty="0"/>
            </a:br>
            <a:endParaRPr lang="en-IN" dirty="0"/>
          </a:p>
        </p:txBody>
      </p:sp>
      <p:sp>
        <p:nvSpPr>
          <p:cNvPr id="4" name="Rectangle 1">
            <a:extLst>
              <a:ext uri="{FF2B5EF4-FFF2-40B4-BE49-F238E27FC236}">
                <a16:creationId xmlns:a16="http://schemas.microsoft.com/office/drawing/2014/main" id="{D93AE9D5-C193-74B6-6934-40FF92FBB3F9}"/>
              </a:ext>
            </a:extLst>
          </p:cNvPr>
          <p:cNvSpPr>
            <a:spLocks noGrp="1" noChangeArrowheads="1"/>
          </p:cNvSpPr>
          <p:nvPr>
            <p:ph idx="1"/>
          </p:nvPr>
        </p:nvSpPr>
        <p:spPr bwMode="auto">
          <a:xfrm>
            <a:off x="966567" y="571584"/>
            <a:ext cx="13959929" cy="66161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1600" dirty="0"/>
              <a:t>This chart shows the </a:t>
            </a:r>
            <a:r>
              <a:rPr lang="en-US" sz="1600" b="1" dirty="0"/>
              <a:t>average stress level for different occupations</a:t>
            </a:r>
            <a:r>
              <a:rPr lang="en-US" sz="1600" dirty="0"/>
              <a:t>.</a:t>
            </a:r>
          </a:p>
          <a:p>
            <a:pPr marL="0" indent="0">
              <a:buNone/>
            </a:pPr>
            <a:r>
              <a:rPr lang="en-US" sz="1600" b="1" dirty="0"/>
              <a:t>&gt;X-axis:</a:t>
            </a:r>
            <a:r>
              <a:rPr lang="en-US" sz="1600" dirty="0"/>
              <a:t> Average Stress Level ,</a:t>
            </a:r>
            <a:r>
              <a:rPr lang="en-US" sz="1600" b="1" dirty="0"/>
              <a:t> Y-axis:</a:t>
            </a:r>
            <a:r>
              <a:rPr lang="en-US" sz="1600" dirty="0"/>
              <a:t> Occupation</a:t>
            </a:r>
          </a:p>
          <a:p>
            <a:r>
              <a:rPr lang="en-US" b="1" u="sng" dirty="0"/>
              <a:t>Key Observations</a:t>
            </a:r>
          </a:p>
          <a:p>
            <a:pPr marL="0" indent="0">
              <a:buNone/>
            </a:pPr>
            <a:r>
              <a:rPr lang="en-US" sz="1600" b="1" dirty="0"/>
              <a:t>&gt;Scientists</a:t>
            </a:r>
            <a:r>
              <a:rPr lang="en-US" sz="1600" dirty="0"/>
              <a:t> have the </a:t>
            </a:r>
            <a:r>
              <a:rPr lang="en-US" sz="1600" b="1" dirty="0"/>
              <a:t>highest stress level</a:t>
            </a:r>
            <a:endParaRPr lang="en-US" sz="1600" dirty="0"/>
          </a:p>
          <a:p>
            <a:pPr marL="0" indent="0">
              <a:buNone/>
            </a:pPr>
            <a:r>
              <a:rPr lang="en-US" sz="1600" b="1" dirty="0"/>
              <a:t>&gt;Nurses and Lawyers</a:t>
            </a:r>
            <a:r>
              <a:rPr lang="en-US" sz="1600" dirty="0"/>
              <a:t> also show </a:t>
            </a:r>
            <a:r>
              <a:rPr lang="en-US" sz="1600" b="1" dirty="0"/>
              <a:t>high stress</a:t>
            </a:r>
            <a:endParaRPr lang="en-US" sz="1600" dirty="0"/>
          </a:p>
          <a:p>
            <a:pPr marL="0" indent="0">
              <a:buNone/>
            </a:pPr>
            <a:r>
              <a:rPr lang="en-US" sz="1600" b="1" dirty="0"/>
              <a:t>&gt;Managers and Accountants</a:t>
            </a:r>
            <a:r>
              <a:rPr lang="en-US" sz="1600" dirty="0"/>
              <a:t> have </a:t>
            </a:r>
            <a:r>
              <a:rPr lang="en-US" sz="1600" b="1" dirty="0"/>
              <a:t>moderate stress</a:t>
            </a:r>
            <a:endParaRPr lang="en-US" sz="1600" dirty="0"/>
          </a:p>
          <a:p>
            <a:pPr marL="0" indent="0">
              <a:buNone/>
            </a:pPr>
            <a:r>
              <a:rPr lang="en-US" sz="1600" b="1" dirty="0"/>
              <a:t>&gt;Teachers</a:t>
            </a:r>
            <a:r>
              <a:rPr lang="en-US" sz="1600" dirty="0"/>
              <a:t> experience </a:t>
            </a:r>
            <a:r>
              <a:rPr lang="en-US" sz="1600" b="1" dirty="0"/>
              <a:t>lower stress</a:t>
            </a:r>
            <a:endParaRPr lang="en-US" sz="1600" dirty="0"/>
          </a:p>
          <a:p>
            <a:pPr marL="0" indent="0">
              <a:buNone/>
            </a:pPr>
            <a:r>
              <a:rPr lang="en-US" sz="1600" b="1" dirty="0"/>
              <a:t>&gt;Doctors and Engineers</a:t>
            </a:r>
            <a:r>
              <a:rPr lang="en-US" sz="1600" dirty="0"/>
              <a:t> have the </a:t>
            </a:r>
            <a:r>
              <a:rPr lang="en-US" sz="1600" b="1" dirty="0"/>
              <a:t>lowest stress levels</a:t>
            </a:r>
            <a:endParaRPr lang="en-US" sz="1600" dirty="0"/>
          </a:p>
          <a:p>
            <a:r>
              <a:rPr lang="en-US" b="1" u="sng" dirty="0"/>
              <a:t>Graph conclusion</a:t>
            </a:r>
          </a:p>
          <a:p>
            <a:pPr marL="0" indent="0">
              <a:buNone/>
            </a:pPr>
            <a:r>
              <a:rPr lang="en-US" sz="1600" dirty="0"/>
              <a:t>&gt;Stress levels vary significantly across professions</a:t>
            </a:r>
          </a:p>
          <a:p>
            <a:pPr marL="0" indent="0">
              <a:buNone/>
            </a:pPr>
            <a:r>
              <a:rPr lang="en-US" sz="1600" dirty="0"/>
              <a:t>&gt;Jobs with </a:t>
            </a:r>
            <a:r>
              <a:rPr lang="en-US" sz="1600" b="1" dirty="0"/>
              <a:t>high responsibility and pressure</a:t>
            </a:r>
            <a:r>
              <a:rPr lang="en-US" sz="1600" dirty="0"/>
              <a:t> tend to have higher stress</a:t>
            </a:r>
          </a:p>
          <a:p>
            <a:pPr marL="0" indent="0">
              <a:buNone/>
            </a:pPr>
            <a:r>
              <a:rPr lang="en-US" sz="1600" dirty="0"/>
              <a:t>&gt;Technical and structured roles show comparatively lower stress</a:t>
            </a:r>
          </a:p>
          <a:p>
            <a:pPr marL="0" indent="0">
              <a:buNone/>
            </a:pPr>
            <a:endParaRPr lang="en-US" sz="1600" b="1" dirty="0"/>
          </a:p>
          <a:p>
            <a:pPr marL="0" indent="0">
              <a:buNone/>
            </a:pPr>
            <a:r>
              <a:rPr lang="en-US" sz="1600" dirty="0"/>
              <a:t>&gt;Stress is highest in research and healthcare-related roles and lowest in technical and engineering professions.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AF856A03-5E13-2D14-000E-35261DCEF162}"/>
              </a:ext>
            </a:extLst>
          </p:cNvPr>
          <p:cNvPicPr>
            <a:picLocks noChangeAspect="1"/>
          </p:cNvPicPr>
          <p:nvPr/>
        </p:nvPicPr>
        <p:blipFill>
          <a:blip r:embed="rId2">
            <a:alphaModFix amt="50000"/>
          </a:blip>
          <a:stretch>
            <a:fillRect/>
          </a:stretch>
        </p:blipFill>
        <p:spPr>
          <a:xfrm>
            <a:off x="6492297" y="1248698"/>
            <a:ext cx="4733136" cy="3640874"/>
          </a:xfrm>
          <a:prstGeom prst="rect">
            <a:avLst/>
          </a:prstGeom>
        </p:spPr>
      </p:pic>
    </p:spTree>
    <p:extLst>
      <p:ext uri="{BB962C8B-B14F-4D97-AF65-F5344CB8AC3E}">
        <p14:creationId xmlns:p14="http://schemas.microsoft.com/office/powerpoint/2010/main" val="843047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F950E-E0A2-7819-42A4-5A22AE021BB0}"/>
              </a:ext>
            </a:extLst>
          </p:cNvPr>
          <p:cNvSpPr>
            <a:spLocks noGrp="1"/>
          </p:cNvSpPr>
          <p:nvPr>
            <p:ph type="title"/>
          </p:nvPr>
        </p:nvSpPr>
        <p:spPr>
          <a:xfrm>
            <a:off x="1141412" y="0"/>
            <a:ext cx="9905998" cy="1478570"/>
          </a:xfrm>
        </p:spPr>
        <p:txBody>
          <a:bodyPr/>
          <a:lstStyle/>
          <a:p>
            <a:r>
              <a:rPr lang="en-IN" b="1" dirty="0"/>
              <a:t>Count of person v/s sleep disorder</a:t>
            </a:r>
            <a:br>
              <a:rPr lang="en-IN" dirty="0"/>
            </a:br>
            <a:endParaRPr lang="en-IN" dirty="0"/>
          </a:p>
        </p:txBody>
      </p:sp>
      <p:sp>
        <p:nvSpPr>
          <p:cNvPr id="9" name="TextBox 8">
            <a:extLst>
              <a:ext uri="{FF2B5EF4-FFF2-40B4-BE49-F238E27FC236}">
                <a16:creationId xmlns:a16="http://schemas.microsoft.com/office/drawing/2014/main" id="{9069CB3A-6444-EDB4-75AA-64E6BF5377C2}"/>
              </a:ext>
            </a:extLst>
          </p:cNvPr>
          <p:cNvSpPr txBox="1"/>
          <p:nvPr/>
        </p:nvSpPr>
        <p:spPr>
          <a:xfrm>
            <a:off x="1141411" y="924709"/>
            <a:ext cx="6744059" cy="5632311"/>
          </a:xfrm>
          <a:prstGeom prst="rect">
            <a:avLst/>
          </a:prstGeom>
          <a:noFill/>
        </p:spPr>
        <p:txBody>
          <a:bodyPr wrap="square">
            <a:spAutoFit/>
          </a:bodyPr>
          <a:lstStyle/>
          <a:p>
            <a:pPr>
              <a:buNone/>
            </a:pPr>
            <a:r>
              <a:rPr lang="en-US" dirty="0"/>
              <a:t>This donut chart shows the </a:t>
            </a:r>
            <a:r>
              <a:rPr lang="en-US" b="1" dirty="0"/>
              <a:t>number of people in each sleep </a:t>
            </a:r>
            <a:r>
              <a:rPr lang="en-US" b="1" u="sng" dirty="0"/>
              <a:t>disorder category</a:t>
            </a:r>
            <a:r>
              <a:rPr lang="en-US" u="sng" dirty="0"/>
              <a:t>.</a:t>
            </a:r>
          </a:p>
          <a:p>
            <a:pPr>
              <a:buFont typeface="Arial" panose="020B0604020202020204" pitchFamily="34" charset="0"/>
              <a:buChar char="•"/>
            </a:pPr>
            <a:r>
              <a:rPr lang="en-US" b="1" dirty="0"/>
              <a:t>No Sleep Disorder:</a:t>
            </a:r>
            <a:r>
              <a:rPr lang="en-US" dirty="0"/>
              <a:t> </a:t>
            </a:r>
            <a:r>
              <a:rPr lang="en-US" b="1" dirty="0"/>
              <a:t>328 people (44.32%)</a:t>
            </a:r>
            <a:endParaRPr lang="en-US" dirty="0"/>
          </a:p>
          <a:p>
            <a:pPr>
              <a:buFont typeface="Arial" panose="020B0604020202020204" pitchFamily="34" charset="0"/>
              <a:buChar char="•"/>
            </a:pPr>
            <a:r>
              <a:rPr lang="en-US" b="1" dirty="0"/>
              <a:t>Sleep Apnea:</a:t>
            </a:r>
            <a:r>
              <a:rPr lang="en-US" dirty="0"/>
              <a:t> </a:t>
            </a:r>
            <a:r>
              <a:rPr lang="en-US" b="1" dirty="0"/>
              <a:t>268 people (36.22%)</a:t>
            </a:r>
            <a:endParaRPr lang="en-US" dirty="0"/>
          </a:p>
          <a:p>
            <a:pPr>
              <a:buFont typeface="Arial" panose="020B0604020202020204" pitchFamily="34" charset="0"/>
              <a:buChar char="•"/>
            </a:pPr>
            <a:r>
              <a:rPr lang="en-US" b="1" dirty="0"/>
              <a:t>Insomnia:</a:t>
            </a:r>
            <a:r>
              <a:rPr lang="en-US" dirty="0"/>
              <a:t> </a:t>
            </a:r>
            <a:r>
              <a:rPr lang="en-US" b="1" dirty="0"/>
              <a:t>144 people (19.46%)</a:t>
            </a:r>
            <a:endParaRPr lang="en-US" dirty="0"/>
          </a:p>
          <a:p>
            <a:pPr>
              <a:buNone/>
            </a:pPr>
            <a:br>
              <a:rPr lang="en-US" dirty="0"/>
            </a:br>
            <a:r>
              <a:rPr lang="en-US" b="1" u="sng" dirty="0"/>
              <a:t>Key Observations</a:t>
            </a:r>
          </a:p>
          <a:p>
            <a:r>
              <a:rPr lang="en-US" dirty="0"/>
              <a:t>&gt;The </a:t>
            </a:r>
            <a:r>
              <a:rPr lang="en-US" b="1" dirty="0"/>
              <a:t>largest group</a:t>
            </a:r>
            <a:r>
              <a:rPr lang="en-US" dirty="0"/>
              <a:t> has </a:t>
            </a:r>
            <a:r>
              <a:rPr lang="en-US" b="1" dirty="0"/>
              <a:t>no sleep disorder</a:t>
            </a:r>
            <a:endParaRPr lang="en-US" dirty="0"/>
          </a:p>
          <a:p>
            <a:r>
              <a:rPr lang="en-US" dirty="0"/>
              <a:t>&gt;A </a:t>
            </a:r>
            <a:r>
              <a:rPr lang="en-US" b="1" dirty="0"/>
              <a:t>significant number</a:t>
            </a:r>
            <a:r>
              <a:rPr lang="en-US" dirty="0"/>
              <a:t> of people suffer from </a:t>
            </a:r>
            <a:r>
              <a:rPr lang="en-US" b="1" dirty="0"/>
              <a:t>sleep apnea</a:t>
            </a:r>
            <a:endParaRPr lang="en-US" dirty="0"/>
          </a:p>
          <a:p>
            <a:r>
              <a:rPr lang="en-US" b="1" dirty="0"/>
              <a:t>&gt;Insomnia</a:t>
            </a:r>
            <a:r>
              <a:rPr lang="en-US" dirty="0"/>
              <a:t> affects a smaller but still important portion of the population</a:t>
            </a:r>
          </a:p>
          <a:p>
            <a:pPr>
              <a:buNone/>
            </a:pPr>
            <a:br>
              <a:rPr lang="en-US" dirty="0"/>
            </a:br>
            <a:r>
              <a:rPr lang="en-US" b="1" u="sng" dirty="0"/>
              <a:t>graph Conclusion</a:t>
            </a:r>
          </a:p>
          <a:p>
            <a:pPr>
              <a:buNone/>
            </a:pPr>
            <a:r>
              <a:rPr lang="en-US" dirty="0"/>
              <a:t>&gt;More</a:t>
            </a:r>
            <a:r>
              <a:rPr lang="en-US" b="1" u="sng" dirty="0"/>
              <a:t> </a:t>
            </a:r>
            <a:r>
              <a:rPr lang="en-US" dirty="0"/>
              <a:t>than half of the population experiences </a:t>
            </a:r>
            <a:r>
              <a:rPr lang="en-US" b="1" dirty="0"/>
              <a:t>some form of sleep disorder</a:t>
            </a:r>
            <a:endParaRPr lang="en-US" dirty="0"/>
          </a:p>
          <a:p>
            <a:r>
              <a:rPr lang="en-US" dirty="0"/>
              <a:t>&gt;Sleep-related health issues are </a:t>
            </a:r>
            <a:r>
              <a:rPr lang="en-US" b="1" dirty="0"/>
              <a:t>common and widespread</a:t>
            </a:r>
            <a:endParaRPr lang="en-US" dirty="0"/>
          </a:p>
          <a:p>
            <a:pPr>
              <a:buNone/>
            </a:pPr>
            <a:endParaRPr lang="en-US" b="1" dirty="0"/>
          </a:p>
          <a:p>
            <a:pPr>
              <a:buNone/>
            </a:pPr>
            <a:endParaRPr lang="en-US" b="1" dirty="0"/>
          </a:p>
          <a:p>
            <a:pPr>
              <a:buNone/>
            </a:pPr>
            <a:r>
              <a:rPr lang="en-US" dirty="0"/>
              <a:t>&gt;While most people do not have sleep disorders, a large proportion still suffers from sleep apnea or insomnia</a:t>
            </a:r>
          </a:p>
        </p:txBody>
      </p:sp>
      <p:pic>
        <p:nvPicPr>
          <p:cNvPr id="11" name="Picture 10">
            <a:extLst>
              <a:ext uri="{FF2B5EF4-FFF2-40B4-BE49-F238E27FC236}">
                <a16:creationId xmlns:a16="http://schemas.microsoft.com/office/drawing/2014/main" id="{81C46BAC-F351-8339-07F5-644828C4C214}"/>
              </a:ext>
            </a:extLst>
          </p:cNvPr>
          <p:cNvPicPr>
            <a:picLocks noChangeAspect="1"/>
          </p:cNvPicPr>
          <p:nvPr/>
        </p:nvPicPr>
        <p:blipFill>
          <a:blip r:embed="rId2">
            <a:alphaModFix amt="50000"/>
          </a:blip>
          <a:stretch>
            <a:fillRect/>
          </a:stretch>
        </p:blipFill>
        <p:spPr>
          <a:xfrm>
            <a:off x="7378526" y="1949534"/>
            <a:ext cx="4020111" cy="2467319"/>
          </a:xfrm>
          <a:prstGeom prst="rect">
            <a:avLst/>
          </a:prstGeom>
        </p:spPr>
      </p:pic>
    </p:spTree>
    <p:extLst>
      <p:ext uri="{BB962C8B-B14F-4D97-AF65-F5344CB8AC3E}">
        <p14:creationId xmlns:p14="http://schemas.microsoft.com/office/powerpoint/2010/main" val="16219838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5D6E4-4B7A-7377-9F3F-5EE341F57F26}"/>
              </a:ext>
            </a:extLst>
          </p:cNvPr>
          <p:cNvSpPr>
            <a:spLocks noGrp="1"/>
          </p:cNvSpPr>
          <p:nvPr>
            <p:ph type="title"/>
          </p:nvPr>
        </p:nvSpPr>
        <p:spPr>
          <a:xfrm>
            <a:off x="1065548" y="130890"/>
            <a:ext cx="9905998" cy="1478570"/>
          </a:xfrm>
        </p:spPr>
        <p:txBody>
          <a:bodyPr/>
          <a:lstStyle/>
          <a:p>
            <a:r>
              <a:rPr lang="en-US" b="1" dirty="0"/>
              <a:t>Count of person V/S occupation</a:t>
            </a:r>
            <a:br>
              <a:rPr lang="en-US" dirty="0"/>
            </a:br>
            <a:endParaRPr lang="en-IN" dirty="0"/>
          </a:p>
        </p:txBody>
      </p:sp>
      <p:sp>
        <p:nvSpPr>
          <p:cNvPr id="8" name="TextBox 7">
            <a:extLst>
              <a:ext uri="{FF2B5EF4-FFF2-40B4-BE49-F238E27FC236}">
                <a16:creationId xmlns:a16="http://schemas.microsoft.com/office/drawing/2014/main" id="{A17AE1B0-8F6D-0761-5111-CE5B2021F225}"/>
              </a:ext>
            </a:extLst>
          </p:cNvPr>
          <p:cNvSpPr txBox="1"/>
          <p:nvPr/>
        </p:nvSpPr>
        <p:spPr>
          <a:xfrm>
            <a:off x="846859" y="1028343"/>
            <a:ext cx="10825596" cy="5078313"/>
          </a:xfrm>
          <a:prstGeom prst="rect">
            <a:avLst/>
          </a:prstGeom>
          <a:noFill/>
        </p:spPr>
        <p:txBody>
          <a:bodyPr wrap="square">
            <a:spAutoFit/>
          </a:bodyPr>
          <a:lstStyle/>
          <a:p>
            <a:pPr>
              <a:buNone/>
            </a:pPr>
            <a:r>
              <a:rPr lang="en-US" dirty="0"/>
              <a:t>This </a:t>
            </a:r>
            <a:r>
              <a:rPr lang="en-US" b="1" dirty="0"/>
              <a:t>tree map</a:t>
            </a:r>
            <a:r>
              <a:rPr lang="en-US" dirty="0"/>
              <a:t> shows the </a:t>
            </a:r>
            <a:r>
              <a:rPr lang="en-US" b="1" dirty="0"/>
              <a:t>number of people in each occupation</a:t>
            </a:r>
            <a:r>
              <a:rPr lang="en-US" dirty="0"/>
              <a:t> in the dataset.</a:t>
            </a:r>
          </a:p>
          <a:p>
            <a:pPr>
              <a:buNone/>
            </a:pPr>
            <a:endParaRPr lang="en-US" dirty="0"/>
          </a:p>
          <a:p>
            <a:r>
              <a:rPr lang="en-US" b="1" dirty="0"/>
              <a:t>&gt;Nurses</a:t>
            </a:r>
            <a:r>
              <a:rPr lang="en-US" dirty="0"/>
              <a:t> form the </a:t>
            </a:r>
            <a:r>
              <a:rPr lang="en-US" b="1" dirty="0"/>
              <a:t>largest group</a:t>
            </a:r>
            <a:r>
              <a:rPr lang="en-US" dirty="0"/>
              <a:t> with </a:t>
            </a:r>
            <a:r>
              <a:rPr lang="en-US" b="1" dirty="0"/>
              <a:t>292 people</a:t>
            </a:r>
            <a:endParaRPr lang="en-US" dirty="0"/>
          </a:p>
          <a:p>
            <a:r>
              <a:rPr lang="en-US" b="1" dirty="0"/>
              <a:t>&gt;Accountants</a:t>
            </a:r>
            <a:r>
              <a:rPr lang="en-US" dirty="0"/>
              <a:t> are the second largest group (</a:t>
            </a:r>
            <a:r>
              <a:rPr lang="en-US" b="1" dirty="0"/>
              <a:t>144 people</a:t>
            </a:r>
            <a:r>
              <a:rPr lang="en-US" dirty="0"/>
              <a:t>)</a:t>
            </a:r>
          </a:p>
          <a:p>
            <a:r>
              <a:rPr lang="en-US" b="1" dirty="0"/>
              <a:t>&gt;Teachers</a:t>
            </a:r>
            <a:r>
              <a:rPr lang="en-US" dirty="0"/>
              <a:t> also have a </a:t>
            </a:r>
            <a:r>
              <a:rPr lang="en-US" b="1" dirty="0"/>
              <a:t>high count</a:t>
            </a:r>
            <a:r>
              <a:rPr lang="en-US" dirty="0"/>
              <a:t> (</a:t>
            </a:r>
            <a:r>
              <a:rPr lang="en-US" b="1" dirty="0"/>
              <a:t>140 people</a:t>
            </a:r>
            <a:r>
              <a:rPr lang="en-US" dirty="0"/>
              <a:t>)</a:t>
            </a:r>
          </a:p>
          <a:p>
            <a:r>
              <a:rPr lang="en-US" b="1" dirty="0"/>
              <a:t>&gt;Engineers</a:t>
            </a:r>
            <a:r>
              <a:rPr lang="en-US" dirty="0"/>
              <a:t> are moderately represented (</a:t>
            </a:r>
            <a:r>
              <a:rPr lang="en-US" b="1" dirty="0"/>
              <a:t>128 people</a:t>
            </a:r>
            <a:r>
              <a:rPr lang="en-US" dirty="0"/>
              <a:t>)</a:t>
            </a:r>
          </a:p>
          <a:p>
            <a:r>
              <a:rPr lang="en-US" b="1" dirty="0"/>
              <a:t>&gt;Scientists, Doctors, and Lawyers</a:t>
            </a:r>
            <a:r>
              <a:rPr lang="en-US" dirty="0"/>
              <a:t> have </a:t>
            </a:r>
            <a:r>
              <a:rPr lang="en-US" b="1" dirty="0"/>
              <a:t>smaller counts</a:t>
            </a:r>
            <a:endParaRPr lang="en-US" dirty="0"/>
          </a:p>
          <a:p>
            <a:pPr>
              <a:buNone/>
            </a:pPr>
            <a:endParaRPr lang="en-US" b="1" dirty="0"/>
          </a:p>
          <a:p>
            <a:pPr>
              <a:buNone/>
            </a:pPr>
            <a:r>
              <a:rPr lang="en-US" b="1" u="sng" dirty="0"/>
              <a:t>Key Observations</a:t>
            </a:r>
          </a:p>
          <a:p>
            <a:r>
              <a:rPr lang="en-US" dirty="0"/>
              <a:t>&gt;The dataset contains </a:t>
            </a:r>
            <a:r>
              <a:rPr lang="en-US" b="1" dirty="0"/>
              <a:t>more participants from healthcare and education fields</a:t>
            </a:r>
            <a:endParaRPr lang="en-US" dirty="0"/>
          </a:p>
          <a:p>
            <a:r>
              <a:rPr lang="en-US" dirty="0"/>
              <a:t>&gt;Some occupations are </a:t>
            </a:r>
            <a:r>
              <a:rPr lang="en-US" b="1" dirty="0"/>
              <a:t>less represented</a:t>
            </a:r>
            <a:r>
              <a:rPr lang="en-US" dirty="0"/>
              <a:t>, which may affect comparisons</a:t>
            </a:r>
          </a:p>
          <a:p>
            <a:pPr>
              <a:buNone/>
            </a:pPr>
            <a:endParaRPr lang="en-US" b="1" dirty="0"/>
          </a:p>
          <a:p>
            <a:pPr>
              <a:buFont typeface="Arial" panose="020B0604020202020204" pitchFamily="34" charset="0"/>
              <a:buChar char="•"/>
            </a:pPr>
            <a:r>
              <a:rPr lang="en-US" b="1" u="sng" dirty="0"/>
              <a:t>Graph conclusion</a:t>
            </a:r>
          </a:p>
          <a:p>
            <a:pPr>
              <a:buFont typeface="Arial" panose="020B0604020202020204" pitchFamily="34" charset="0"/>
              <a:buChar char="•"/>
            </a:pPr>
            <a:endParaRPr lang="en-US" b="1" u="sng" dirty="0"/>
          </a:p>
          <a:p>
            <a:r>
              <a:rPr lang="en-US" dirty="0"/>
              <a:t>&gt;Occupation distribution is </a:t>
            </a:r>
            <a:r>
              <a:rPr lang="en-US" b="1" dirty="0"/>
              <a:t>not equal</a:t>
            </a:r>
            <a:endParaRPr lang="en-US" dirty="0"/>
          </a:p>
          <a:p>
            <a:r>
              <a:rPr lang="en-US" dirty="0"/>
              <a:t>&gt;Results are influenced more by professions with </a:t>
            </a:r>
            <a:r>
              <a:rPr lang="en-US" b="1" dirty="0"/>
              <a:t>higher participant counts</a:t>
            </a:r>
            <a:endParaRPr lang="en-US" dirty="0"/>
          </a:p>
          <a:p>
            <a:pPr>
              <a:buNone/>
            </a:pPr>
            <a:br>
              <a:rPr lang="en-US" dirty="0"/>
            </a:br>
            <a:r>
              <a:rPr lang="en-US" dirty="0"/>
              <a:t>&gt;Nurses and accountants make up the largest share of the dataset, while other occupations have fewer participants.</a:t>
            </a:r>
          </a:p>
        </p:txBody>
      </p:sp>
      <p:pic>
        <p:nvPicPr>
          <p:cNvPr id="10" name="Picture 9">
            <a:extLst>
              <a:ext uri="{FF2B5EF4-FFF2-40B4-BE49-F238E27FC236}">
                <a16:creationId xmlns:a16="http://schemas.microsoft.com/office/drawing/2014/main" id="{277A55FA-58E1-0E4B-397B-4D0F30A5E3DA}"/>
              </a:ext>
            </a:extLst>
          </p:cNvPr>
          <p:cNvPicPr>
            <a:picLocks noChangeAspect="1"/>
          </p:cNvPicPr>
          <p:nvPr/>
        </p:nvPicPr>
        <p:blipFill>
          <a:blip r:embed="rId2">
            <a:alphaModFix amt="51000"/>
          </a:blip>
          <a:stretch>
            <a:fillRect/>
          </a:stretch>
        </p:blipFill>
        <p:spPr>
          <a:xfrm>
            <a:off x="8244068" y="2190577"/>
            <a:ext cx="3600953" cy="2476846"/>
          </a:xfrm>
          <a:prstGeom prst="rect">
            <a:avLst/>
          </a:prstGeom>
        </p:spPr>
      </p:pic>
    </p:spTree>
    <p:extLst>
      <p:ext uri="{BB962C8B-B14F-4D97-AF65-F5344CB8AC3E}">
        <p14:creationId xmlns:p14="http://schemas.microsoft.com/office/powerpoint/2010/main" val="31686618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D93C7-943B-5F3C-CBF5-D75202B7A5A2}"/>
              </a:ext>
            </a:extLst>
          </p:cNvPr>
          <p:cNvSpPr>
            <a:spLocks noGrp="1"/>
          </p:cNvSpPr>
          <p:nvPr>
            <p:ph type="title"/>
          </p:nvPr>
        </p:nvSpPr>
        <p:spPr/>
        <p:txBody>
          <a:bodyPr/>
          <a:lstStyle/>
          <a:p>
            <a:r>
              <a:rPr lang="en-US" b="1" dirty="0"/>
              <a:t>Recommendations &amp; Conclusion</a:t>
            </a:r>
            <a:br>
              <a:rPr lang="en-US" b="1" dirty="0"/>
            </a:br>
            <a:endParaRPr lang="en-IN" dirty="0"/>
          </a:p>
        </p:txBody>
      </p:sp>
      <p:sp>
        <p:nvSpPr>
          <p:cNvPr id="7" name="TextBox 6">
            <a:extLst>
              <a:ext uri="{FF2B5EF4-FFF2-40B4-BE49-F238E27FC236}">
                <a16:creationId xmlns:a16="http://schemas.microsoft.com/office/drawing/2014/main" id="{0B81A0FC-9839-0178-FF9D-06711C795140}"/>
              </a:ext>
            </a:extLst>
          </p:cNvPr>
          <p:cNvSpPr txBox="1"/>
          <p:nvPr/>
        </p:nvSpPr>
        <p:spPr>
          <a:xfrm>
            <a:off x="943119" y="1443841"/>
            <a:ext cx="10302586" cy="4524315"/>
          </a:xfrm>
          <a:prstGeom prst="rect">
            <a:avLst/>
          </a:prstGeom>
          <a:noFill/>
        </p:spPr>
        <p:txBody>
          <a:bodyPr wrap="square">
            <a:spAutoFit/>
          </a:bodyPr>
          <a:lstStyle/>
          <a:p>
            <a:pPr>
              <a:buNone/>
            </a:pPr>
            <a:r>
              <a:rPr lang="en-US" b="1" dirty="0"/>
              <a:t>Recommendations</a:t>
            </a:r>
          </a:p>
          <a:p>
            <a:pPr>
              <a:buNone/>
            </a:pPr>
            <a:endParaRPr lang="en-US" b="1" dirty="0"/>
          </a:p>
          <a:p>
            <a:pPr>
              <a:buFont typeface="Arial" panose="020B0604020202020204" pitchFamily="34" charset="0"/>
              <a:buChar char="•"/>
            </a:pPr>
            <a:r>
              <a:rPr lang="en-US" dirty="0"/>
              <a:t>Encourage </a:t>
            </a:r>
            <a:r>
              <a:rPr lang="en-US" b="1" dirty="0"/>
              <a:t>7–8 hours of sleep daily</a:t>
            </a:r>
            <a:r>
              <a:rPr lang="en-US" dirty="0"/>
              <a:t> to improve sleep quality</a:t>
            </a:r>
          </a:p>
          <a:p>
            <a:pPr>
              <a:buFont typeface="Arial" panose="020B0604020202020204" pitchFamily="34" charset="0"/>
              <a:buChar char="•"/>
            </a:pPr>
            <a:r>
              <a:rPr lang="en-US" dirty="0"/>
              <a:t>Promote </a:t>
            </a:r>
            <a:r>
              <a:rPr lang="en-US" b="1" dirty="0"/>
              <a:t>stress-management techniques</a:t>
            </a:r>
            <a:r>
              <a:rPr lang="en-US" dirty="0"/>
              <a:t> (meditation, exercise, breaks), especially for high-stress jobs</a:t>
            </a:r>
          </a:p>
          <a:p>
            <a:pPr>
              <a:buFont typeface="Arial" panose="020B0604020202020204" pitchFamily="34" charset="0"/>
              <a:buChar char="•"/>
            </a:pPr>
            <a:r>
              <a:rPr lang="en-US" dirty="0"/>
              <a:t>Conduct </a:t>
            </a:r>
            <a:r>
              <a:rPr lang="en-US" b="1" dirty="0"/>
              <a:t>regular sleep disorder screenings</a:t>
            </a:r>
            <a:r>
              <a:rPr lang="en-US" dirty="0"/>
              <a:t> for insomnia and sleep apnea</a:t>
            </a:r>
          </a:p>
          <a:p>
            <a:pPr>
              <a:buFont typeface="Arial" panose="020B0604020202020204" pitchFamily="34" charset="0"/>
              <a:buChar char="•"/>
            </a:pPr>
            <a:r>
              <a:rPr lang="en-US" dirty="0"/>
              <a:t>Employers should support </a:t>
            </a:r>
            <a:r>
              <a:rPr lang="en-US" b="1" dirty="0"/>
              <a:t>work–life balance</a:t>
            </a:r>
            <a:r>
              <a:rPr lang="en-US" dirty="0"/>
              <a:t>, especially in healthcare and research roles</a:t>
            </a:r>
          </a:p>
          <a:p>
            <a:pPr>
              <a:buFont typeface="Arial" panose="020B0604020202020204" pitchFamily="34" charset="0"/>
              <a:buChar char="•"/>
            </a:pPr>
            <a:r>
              <a:rPr lang="en-US" dirty="0"/>
              <a:t>Maintain a </a:t>
            </a:r>
            <a:r>
              <a:rPr lang="en-US" b="1" dirty="0"/>
              <a:t>healthy lifestyle</a:t>
            </a:r>
            <a:r>
              <a:rPr lang="en-US" dirty="0"/>
              <a:t> (balanced diet, normal BMI, physical activity) to support better sleep</a:t>
            </a:r>
          </a:p>
          <a:p>
            <a:pPr>
              <a:buFont typeface="Arial" panose="020B0604020202020204" pitchFamily="34" charset="0"/>
              <a:buChar char="•"/>
            </a:pPr>
            <a:r>
              <a:rPr lang="en-US" dirty="0"/>
              <a:t>Increase awareness about the </a:t>
            </a:r>
            <a:r>
              <a:rPr lang="en-US" b="1" dirty="0"/>
              <a:t>impact of stress on sleep and health</a:t>
            </a:r>
            <a:endParaRPr lang="en-US" dirty="0"/>
          </a:p>
          <a:p>
            <a:pPr>
              <a:buNone/>
            </a:pPr>
            <a:endParaRPr lang="en-US" b="1" dirty="0"/>
          </a:p>
          <a:p>
            <a:pPr>
              <a:buNone/>
            </a:pPr>
            <a:r>
              <a:rPr lang="en-US" b="1" dirty="0"/>
              <a:t>Conclusion</a:t>
            </a:r>
          </a:p>
          <a:p>
            <a:pPr>
              <a:buNone/>
            </a:pPr>
            <a:endParaRPr lang="en-US" b="1" dirty="0"/>
          </a:p>
          <a:p>
            <a:pPr>
              <a:buFont typeface="Arial" panose="020B0604020202020204" pitchFamily="34" charset="0"/>
              <a:buChar char="•"/>
            </a:pPr>
            <a:r>
              <a:rPr lang="en-US" dirty="0"/>
              <a:t>The analysis shows a </a:t>
            </a:r>
            <a:r>
              <a:rPr lang="en-US" b="1" dirty="0"/>
              <a:t>strong link between sleep duration and sleep quality</a:t>
            </a:r>
            <a:endParaRPr lang="en-US" dirty="0"/>
          </a:p>
          <a:p>
            <a:pPr>
              <a:buFont typeface="Arial" panose="020B0604020202020204" pitchFamily="34" charset="0"/>
              <a:buChar char="•"/>
            </a:pPr>
            <a:r>
              <a:rPr lang="en-US" b="1" dirty="0"/>
              <a:t>Stress levels vary by occupation</a:t>
            </a:r>
            <a:r>
              <a:rPr lang="en-US" dirty="0"/>
              <a:t> and affect sleep health</a:t>
            </a:r>
          </a:p>
          <a:p>
            <a:pPr>
              <a:buFont typeface="Arial" panose="020B0604020202020204" pitchFamily="34" charset="0"/>
              <a:buChar char="•"/>
            </a:pPr>
            <a:r>
              <a:rPr lang="en-US" b="1" dirty="0"/>
              <a:t>Sleep disorders significantly reduce sleep quality and duration</a:t>
            </a:r>
            <a:endParaRPr lang="en-US" dirty="0"/>
          </a:p>
          <a:p>
            <a:pPr>
              <a:buFont typeface="Arial" panose="020B0604020202020204" pitchFamily="34" charset="0"/>
              <a:buChar char="•"/>
            </a:pPr>
            <a:r>
              <a:rPr lang="en-US" dirty="0"/>
              <a:t>Age and lifestyle factors influence </a:t>
            </a:r>
            <a:r>
              <a:rPr lang="en-US" b="1" dirty="0"/>
              <a:t>stress and heart rate</a:t>
            </a:r>
            <a:endParaRPr lang="en-US" dirty="0"/>
          </a:p>
          <a:p>
            <a:pPr>
              <a:buFont typeface="Arial" panose="020B0604020202020204" pitchFamily="34" charset="0"/>
              <a:buChar char="•"/>
            </a:pPr>
            <a:r>
              <a:rPr lang="en-US" dirty="0"/>
              <a:t>The Power BI dashboard provides </a:t>
            </a:r>
            <a:r>
              <a:rPr lang="en-US" b="1" dirty="0"/>
              <a:t>valuable insights</a:t>
            </a:r>
            <a:r>
              <a:rPr lang="en-US" dirty="0"/>
              <a:t> to improve sleep habits and overall well-being</a:t>
            </a:r>
          </a:p>
        </p:txBody>
      </p:sp>
    </p:spTree>
    <p:extLst>
      <p:ext uri="{BB962C8B-B14F-4D97-AF65-F5344CB8AC3E}">
        <p14:creationId xmlns:p14="http://schemas.microsoft.com/office/powerpoint/2010/main" val="46201560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Red">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
  <TotalTime>141</TotalTime>
  <Words>1060</Words>
  <Application>Microsoft Office PowerPoint</Application>
  <PresentationFormat>Widescreen</PresentationFormat>
  <Paragraphs>122</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Bahnschrift Light</vt:lpstr>
      <vt:lpstr>Tw Cen MT</vt:lpstr>
      <vt:lpstr>Circuit</vt:lpstr>
      <vt:lpstr>The Sleep Insights</vt:lpstr>
      <vt:lpstr>introduction</vt:lpstr>
      <vt:lpstr>Key findings</vt:lpstr>
      <vt:lpstr>“sleep duration v/s quality”</vt:lpstr>
      <vt:lpstr>Age on heart rate v/s stress level</vt:lpstr>
      <vt:lpstr>Stress level by occupation </vt:lpstr>
      <vt:lpstr>Count of person v/s sleep disorder </vt:lpstr>
      <vt:lpstr>Count of person V/S occupation </vt:lpstr>
      <vt:lpstr>Recommendations &amp; 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Akhil A K</dc:creator>
  <cp:lastModifiedBy>Akhil A K</cp:lastModifiedBy>
  <cp:revision>8</cp:revision>
  <dcterms:created xsi:type="dcterms:W3CDTF">2026-01-02T15:27:54Z</dcterms:created>
  <dcterms:modified xsi:type="dcterms:W3CDTF">2026-01-23T10:04:30Z</dcterms:modified>
</cp:coreProperties>
</file>